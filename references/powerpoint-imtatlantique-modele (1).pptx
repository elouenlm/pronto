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87" r:id="rId3"/>
    <p:sldId id="288" r:id="rId4"/>
    <p:sldId id="289" r:id="rId5"/>
    <p:sldId id="290" r:id="rId6"/>
    <p:sldId id="278" r:id="rId7"/>
    <p:sldId id="264" r:id="rId8"/>
    <p:sldId id="29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99"/>
    <a:srgbClr val="0C2340"/>
    <a:srgbClr val="CCD2D8"/>
    <a:srgbClr val="03B8DF"/>
    <a:srgbClr val="EF7D00"/>
    <a:srgbClr val="ECF9FD"/>
    <a:srgbClr val="00B8DE"/>
    <a:srgbClr val="D9E1E2"/>
    <a:srgbClr val="A22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12" autoAdjust="0"/>
    <p:restoredTop sz="94558"/>
  </p:normalViewPr>
  <p:slideViewPr>
    <p:cSldViewPr snapToGrid="0">
      <p:cViewPr>
        <p:scale>
          <a:sx n="130" d="100"/>
          <a:sy n="130" d="100"/>
        </p:scale>
        <p:origin x="-11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50B1919-D5B5-1C1A-A35C-6A3DF6874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F81B44-C189-1EF7-DD3B-FF2CB9E7F2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C624B-01DB-F641-9C1C-D883669DE92A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32EC9D-60F2-3668-4F7A-68330EC5A8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C3AF22-5A92-700E-4139-CA3D9D53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621B2-7570-3C49-AFD2-25AA2160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10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9EF55-957D-5543-8836-A3A6352D0D4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BBCF1-F1CC-7941-A3BC-FEBDE1E672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14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30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199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69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978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572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BBCF1-F1CC-7941-A3BC-FEBDE1E6723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02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51C7770-7C6F-F5E5-1A05-B268078EE3E6}"/>
              </a:ext>
            </a:extLst>
          </p:cNvPr>
          <p:cNvSpPr txBox="1"/>
          <p:nvPr userDrawn="1"/>
        </p:nvSpPr>
        <p:spPr>
          <a:xfrm>
            <a:off x="2383692" y="2618154"/>
            <a:ext cx="7299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 MASQUES PPT</a:t>
            </a:r>
            <a:br>
              <a:rPr lang="fr-FR" sz="32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simplifié - IMT Atlantique</a:t>
            </a:r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C5C03F0D-B568-8864-5477-7FD185271BEA}"/>
              </a:ext>
            </a:extLst>
          </p:cNvPr>
          <p:cNvSpPr/>
          <p:nvPr userDrawn="1"/>
        </p:nvSpPr>
        <p:spPr>
          <a:xfrm rot="5400000">
            <a:off x="2211754" y="2004256"/>
            <a:ext cx="1032021" cy="1032021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riangle rectangle 4">
            <a:extLst>
              <a:ext uri="{FF2B5EF4-FFF2-40B4-BE49-F238E27FC236}">
                <a16:creationId xmlns:a16="http://schemas.microsoft.com/office/drawing/2014/main" id="{508A9027-F26A-ACCF-E14B-BBD2A5E12359}"/>
              </a:ext>
            </a:extLst>
          </p:cNvPr>
          <p:cNvSpPr/>
          <p:nvPr userDrawn="1"/>
        </p:nvSpPr>
        <p:spPr>
          <a:xfrm rot="16200000">
            <a:off x="8651241" y="3371948"/>
            <a:ext cx="1032021" cy="1032021"/>
          </a:xfrm>
          <a:prstGeom prst="rtTriangle">
            <a:avLst/>
          </a:prstGeom>
          <a:solidFill>
            <a:srgbClr val="00B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5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rectangle 13">
            <a:extLst>
              <a:ext uri="{FF2B5EF4-FFF2-40B4-BE49-F238E27FC236}">
                <a16:creationId xmlns:a16="http://schemas.microsoft.com/office/drawing/2014/main" id="{9587E450-D226-B713-715A-50E6EB18EC52}"/>
              </a:ext>
            </a:extLst>
          </p:cNvPr>
          <p:cNvSpPr/>
          <p:nvPr userDrawn="1"/>
        </p:nvSpPr>
        <p:spPr>
          <a:xfrm rot="10800000">
            <a:off x="6595110" y="-4041"/>
            <a:ext cx="5596890" cy="5596890"/>
          </a:xfrm>
          <a:prstGeom prst="rtTriangle">
            <a:avLst/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42E9D7BB-EA5F-A947-844F-04AB47A4BAA7}"/>
              </a:ext>
            </a:extLst>
          </p:cNvPr>
          <p:cNvSpPr/>
          <p:nvPr userDrawn="1"/>
        </p:nvSpPr>
        <p:spPr>
          <a:xfrm rot="16200000">
            <a:off x="9315451" y="3981450"/>
            <a:ext cx="2876550" cy="2876550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riangle rectangle 4">
            <a:extLst>
              <a:ext uri="{FF2B5EF4-FFF2-40B4-BE49-F238E27FC236}">
                <a16:creationId xmlns:a16="http://schemas.microsoft.com/office/drawing/2014/main" id="{D1A0C313-36E9-1856-2DBD-D7EACBB98781}"/>
              </a:ext>
            </a:extLst>
          </p:cNvPr>
          <p:cNvSpPr/>
          <p:nvPr userDrawn="1"/>
        </p:nvSpPr>
        <p:spPr>
          <a:xfrm>
            <a:off x="0" y="4434841"/>
            <a:ext cx="2423159" cy="2423159"/>
          </a:xfrm>
          <a:prstGeom prst="rtTriangle">
            <a:avLst/>
          </a:prstGeom>
          <a:solidFill>
            <a:srgbClr val="00B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0CC10856-DC7E-A9FA-CCEF-5AA237FF62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118" y="2557970"/>
            <a:ext cx="6619875" cy="949643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A380BCC9-A66A-DD4A-D6D9-2F18028928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118" y="3599689"/>
            <a:ext cx="6619875" cy="40989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AE0F6C-3E08-6BD4-1347-E475C6EF80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1708" y="557915"/>
            <a:ext cx="2743200" cy="106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1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rectangle 13">
            <a:extLst>
              <a:ext uri="{FF2B5EF4-FFF2-40B4-BE49-F238E27FC236}">
                <a16:creationId xmlns:a16="http://schemas.microsoft.com/office/drawing/2014/main" id="{9587E450-D226-B713-715A-50E6EB18EC52}"/>
              </a:ext>
            </a:extLst>
          </p:cNvPr>
          <p:cNvSpPr/>
          <p:nvPr userDrawn="1"/>
        </p:nvSpPr>
        <p:spPr>
          <a:xfrm rot="10800000">
            <a:off x="6595110" y="-4041"/>
            <a:ext cx="5596890" cy="5596890"/>
          </a:xfrm>
          <a:prstGeom prst="rtTriangle">
            <a:avLst/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0CC10856-DC7E-A9FA-CCEF-5AA237FF62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118" y="2557970"/>
            <a:ext cx="6619875" cy="949643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A380BCC9-A66A-DD4A-D6D9-2F18028928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118" y="3599689"/>
            <a:ext cx="6619875" cy="40989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AE0F6C-3E08-6BD4-1347-E475C6EF80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1708" y="557915"/>
            <a:ext cx="2743200" cy="1062932"/>
          </a:xfrm>
          <a:prstGeom prst="rect">
            <a:avLst/>
          </a:prstGeom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09A1D32-F26E-1F48-EA53-43AD4075E1D5}"/>
              </a:ext>
            </a:extLst>
          </p:cNvPr>
          <p:cNvCxnSpPr>
            <a:cxnSpLocks/>
          </p:cNvCxnSpPr>
          <p:nvPr userDrawn="1"/>
        </p:nvCxnSpPr>
        <p:spPr>
          <a:xfrm>
            <a:off x="1571625" y="6057898"/>
            <a:ext cx="10620375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iangle rectangle 17">
            <a:extLst>
              <a:ext uri="{FF2B5EF4-FFF2-40B4-BE49-F238E27FC236}">
                <a16:creationId xmlns:a16="http://schemas.microsoft.com/office/drawing/2014/main" id="{9D59134A-4A15-06F4-4313-290534227C64}"/>
              </a:ext>
            </a:extLst>
          </p:cNvPr>
          <p:cNvSpPr/>
          <p:nvPr userDrawn="1"/>
        </p:nvSpPr>
        <p:spPr>
          <a:xfrm rot="16200000">
            <a:off x="9315451" y="3181348"/>
            <a:ext cx="2876550" cy="2876550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riangle rectangle 4">
            <a:extLst>
              <a:ext uri="{FF2B5EF4-FFF2-40B4-BE49-F238E27FC236}">
                <a16:creationId xmlns:a16="http://schemas.microsoft.com/office/drawing/2014/main" id="{D1A0C313-36E9-1856-2DBD-D7EACBB98781}"/>
              </a:ext>
            </a:extLst>
          </p:cNvPr>
          <p:cNvSpPr/>
          <p:nvPr userDrawn="1"/>
        </p:nvSpPr>
        <p:spPr>
          <a:xfrm>
            <a:off x="0" y="4434841"/>
            <a:ext cx="2423159" cy="2423159"/>
          </a:xfrm>
          <a:prstGeom prst="rtTriangle">
            <a:avLst/>
          </a:prstGeom>
          <a:solidFill>
            <a:srgbClr val="00B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8FAA10C-013E-500A-80EF-A190A762F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43482" y="6190663"/>
            <a:ext cx="646384" cy="335894"/>
          </a:xfrm>
          <a:prstGeom prst="rect">
            <a:avLst/>
          </a:prstGeom>
        </p:spPr>
      </p:pic>
      <p:pic>
        <p:nvPicPr>
          <p:cNvPr id="20" name="Image 19" descr="Une image contenant Graphique, graphisme, Caractère coloré, capture d’écran&#10;&#10;Description générée automatiquement">
            <a:extLst>
              <a:ext uri="{FF2B5EF4-FFF2-40B4-BE49-F238E27FC236}">
                <a16:creationId xmlns:a16="http://schemas.microsoft.com/office/drawing/2014/main" id="{D001F79E-C7B6-AC4F-1C9C-9F9E5D131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62387" y="6191299"/>
            <a:ext cx="646384" cy="335894"/>
          </a:xfrm>
          <a:prstGeom prst="rect">
            <a:avLst/>
          </a:prstGeom>
        </p:spPr>
      </p:pic>
      <p:pic>
        <p:nvPicPr>
          <p:cNvPr id="21" name="Image 20" descr="Une image contenant Graphique, graphism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4B2C10DC-068D-9B28-AEC7-9C3ADF5554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81292" y="6195592"/>
            <a:ext cx="646385" cy="405049"/>
          </a:xfrm>
          <a:prstGeom prst="rect">
            <a:avLst/>
          </a:prstGeom>
        </p:spPr>
      </p:pic>
      <p:pic>
        <p:nvPicPr>
          <p:cNvPr id="22" name="Image 21" descr="Une image contenant Graphique, graphisme, Police, capture d’écran&#10;&#10;Description générée automatiquement">
            <a:extLst>
              <a:ext uri="{FF2B5EF4-FFF2-40B4-BE49-F238E27FC236}">
                <a16:creationId xmlns:a16="http://schemas.microsoft.com/office/drawing/2014/main" id="{8B1A89EE-2F95-2F2F-A9F1-3260919E18D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800198" y="6197868"/>
            <a:ext cx="762113" cy="344362"/>
          </a:xfrm>
          <a:prstGeom prst="rect">
            <a:avLst/>
          </a:prstGeom>
        </p:spPr>
      </p:pic>
      <p:pic>
        <p:nvPicPr>
          <p:cNvPr id="23" name="Image 22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3DB08A52-85FB-D153-7F92-7949A62BD9C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934832" y="6197869"/>
            <a:ext cx="370045" cy="525984"/>
          </a:xfrm>
          <a:prstGeom prst="rect">
            <a:avLst/>
          </a:prstGeom>
        </p:spPr>
      </p:pic>
      <p:pic>
        <p:nvPicPr>
          <p:cNvPr id="24" name="Image 23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44A9407F-BFBB-647B-8404-EB5A0289ABD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66642" y="6197869"/>
            <a:ext cx="560490" cy="268922"/>
          </a:xfrm>
          <a:prstGeom prst="rect">
            <a:avLst/>
          </a:prstGeom>
        </p:spPr>
      </p:pic>
      <p:pic>
        <p:nvPicPr>
          <p:cNvPr id="25" name="Image 24" descr="Une image contenant texte, Police, conception, logo&#10;&#10;Description générée automatiquement">
            <a:extLst>
              <a:ext uri="{FF2B5EF4-FFF2-40B4-BE49-F238E27FC236}">
                <a16:creationId xmlns:a16="http://schemas.microsoft.com/office/drawing/2014/main" id="{B9CA94A6-7036-0252-D68E-97E3F5C6234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l="39047" t="18201" r="40242" b="37699"/>
          <a:stretch/>
        </p:blipFill>
        <p:spPr>
          <a:xfrm>
            <a:off x="8677398" y="6197868"/>
            <a:ext cx="372322" cy="560465"/>
          </a:xfrm>
          <a:prstGeom prst="rect">
            <a:avLst/>
          </a:prstGeom>
        </p:spPr>
      </p:pic>
      <p:pic>
        <p:nvPicPr>
          <p:cNvPr id="26" name="Image 25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1ED302A9-D256-0788-8D39-45DDDA283CD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l="39005" t="17968" r="40309" b="38117"/>
          <a:stretch/>
        </p:blipFill>
        <p:spPr>
          <a:xfrm>
            <a:off x="9422241" y="6197869"/>
            <a:ext cx="371880" cy="558114"/>
          </a:xfrm>
          <a:prstGeom prst="rect">
            <a:avLst/>
          </a:prstGeom>
        </p:spPr>
      </p:pic>
      <p:pic>
        <p:nvPicPr>
          <p:cNvPr id="27" name="Image 26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33181001-FA9C-28DF-6783-BE1FC66CA80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099654" y="6197869"/>
            <a:ext cx="814079" cy="248652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F2F24DB7-A202-BF18-06F3-EC583BB4C58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2668428" y="6190663"/>
            <a:ext cx="702533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9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le rectangle 5">
            <a:extLst>
              <a:ext uri="{FF2B5EF4-FFF2-40B4-BE49-F238E27FC236}">
                <a16:creationId xmlns:a16="http://schemas.microsoft.com/office/drawing/2014/main" id="{A1F5C04E-4F65-8AA2-CF75-33C28E853745}"/>
              </a:ext>
            </a:extLst>
          </p:cNvPr>
          <p:cNvSpPr/>
          <p:nvPr userDrawn="1"/>
        </p:nvSpPr>
        <p:spPr>
          <a:xfrm rot="5400000">
            <a:off x="0" y="0"/>
            <a:ext cx="5596890" cy="5596890"/>
          </a:xfrm>
          <a:prstGeom prst="rtTriangle">
            <a:avLst/>
          </a:prstGeom>
          <a:solidFill>
            <a:srgbClr val="D9E1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riangle rectangle 6">
            <a:extLst>
              <a:ext uri="{FF2B5EF4-FFF2-40B4-BE49-F238E27FC236}">
                <a16:creationId xmlns:a16="http://schemas.microsoft.com/office/drawing/2014/main" id="{152A22C4-60FE-E770-5D3E-DD6013066BDA}"/>
              </a:ext>
            </a:extLst>
          </p:cNvPr>
          <p:cNvSpPr/>
          <p:nvPr userDrawn="1"/>
        </p:nvSpPr>
        <p:spPr>
          <a:xfrm>
            <a:off x="1" y="3657600"/>
            <a:ext cx="3200400" cy="3200400"/>
          </a:xfrm>
          <a:prstGeom prst="rtTriangle">
            <a:avLst/>
          </a:prstGeom>
          <a:solidFill>
            <a:srgbClr val="00B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5CA8A866-7A2B-BE06-5F58-068C7C63D076}"/>
              </a:ext>
            </a:extLst>
          </p:cNvPr>
          <p:cNvSpPr/>
          <p:nvPr userDrawn="1"/>
        </p:nvSpPr>
        <p:spPr>
          <a:xfrm rot="2700000">
            <a:off x="11594792" y="2831793"/>
            <a:ext cx="1194415" cy="1194415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0E5325B-ABBC-F082-2B19-98ACC4DB1E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9" y="2746989"/>
            <a:ext cx="9144000" cy="66309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fr-FR" dirty="0"/>
              <a:t>CHAPITRE 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3D909B57-B599-DAF5-E901-16C3561A99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19999" y="3502157"/>
            <a:ext cx="9144000" cy="40989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Lorem ipsum </a:t>
            </a:r>
            <a:r>
              <a:rPr lang="fr-FR" dirty="0" err="1"/>
              <a:t>dolore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399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21A5BE4B-1DB3-8C36-58BD-87E4B88F5942}"/>
              </a:ext>
            </a:extLst>
          </p:cNvPr>
          <p:cNvSpPr/>
          <p:nvPr userDrawn="1"/>
        </p:nvSpPr>
        <p:spPr>
          <a:xfrm rot="13500000">
            <a:off x="-270949" y="271855"/>
            <a:ext cx="541896" cy="541896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8BD6F80-B31E-6378-68B4-8C34A75427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3744" y="200721"/>
            <a:ext cx="9144000" cy="409893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rgbClr val="99CC99"/>
                </a:solidFill>
              </a:defRPr>
            </a:lvl1pPr>
          </a:lstStyle>
          <a:p>
            <a:r>
              <a:rPr lang="fr-FR" dirty="0"/>
              <a:t>CHAPITRE 1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9589D-A1F1-DECC-88B0-E3CAE3F125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3744" y="610614"/>
            <a:ext cx="9144000" cy="40989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Lorem ipsum </a:t>
            </a:r>
            <a:r>
              <a:rPr lang="fr-FR" dirty="0" err="1"/>
              <a:t>dolore</a:t>
            </a:r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38B0616-CA28-4658-904D-3BA9EB3D78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744" y="1652185"/>
            <a:ext cx="3333750" cy="306808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B8D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D85AF6-7F58-B049-BB81-160991AF862C}"/>
              </a:ext>
            </a:extLst>
          </p:cNvPr>
          <p:cNvSpPr txBox="1"/>
          <p:nvPr userDrawn="1"/>
        </p:nvSpPr>
        <p:spPr>
          <a:xfrm>
            <a:off x="11589751" y="6413923"/>
            <a:ext cx="61517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70B26BD-1023-8646-9A2C-47B99FBD13CA}" type="slidenum">
              <a:rPr lang="fr-FR" sz="1000" smtClean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‹N°›</a:t>
            </a:fld>
            <a:endParaRPr lang="fr-FR" sz="1050" dirty="0">
              <a:solidFill>
                <a:srgbClr val="0C23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B751F5DE-C416-B2FD-2D5C-2F1DDEDDB2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47449" y="6431274"/>
            <a:ext cx="5189537" cy="211519"/>
          </a:xfrm>
        </p:spPr>
        <p:txBody>
          <a:bodyPr>
            <a:noAutofit/>
          </a:bodyPr>
          <a:lstStyle>
            <a:lvl1pPr marL="0" indent="0" algn="r">
              <a:buNone/>
              <a:defRPr sz="800">
                <a:solidFill>
                  <a:srgbClr val="0C2340"/>
                </a:solidFill>
              </a:defRPr>
            </a:lvl1pPr>
          </a:lstStyle>
          <a:p>
            <a:pPr lvl="0"/>
            <a:r>
              <a:rPr lang="fr-FR" dirty="0"/>
              <a:t>Titre du document /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B11D3-2AF3-F0F9-2699-23C3E02AFBAE}"/>
              </a:ext>
            </a:extLst>
          </p:cNvPr>
          <p:cNvSpPr/>
          <p:nvPr userDrawn="1"/>
        </p:nvSpPr>
        <p:spPr>
          <a:xfrm>
            <a:off x="1443913" y="6351401"/>
            <a:ext cx="1529396" cy="346974"/>
          </a:xfrm>
          <a:prstGeom prst="rect">
            <a:avLst/>
          </a:prstGeom>
          <a:solidFill>
            <a:srgbClr val="D9E1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Partenaire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4B667E6-A1A2-D61E-6FD4-3C7F62100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1331" y="6340465"/>
            <a:ext cx="597606" cy="368845"/>
          </a:xfrm>
          <a:prstGeom prst="rect">
            <a:avLst/>
          </a:prstGeom>
        </p:spPr>
      </p:pic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BC820B03-694F-4EC8-CF81-AA6FDA131603}"/>
              </a:ext>
            </a:extLst>
          </p:cNvPr>
          <p:cNvSpPr/>
          <p:nvPr userDrawn="1"/>
        </p:nvSpPr>
        <p:spPr>
          <a:xfrm rot="16200000">
            <a:off x="11234853" y="5910810"/>
            <a:ext cx="837281" cy="837281"/>
          </a:xfrm>
          <a:prstGeom prst="rtTriangle">
            <a:avLst/>
          </a:prstGeom>
          <a:noFill/>
          <a:ln w="9525">
            <a:solidFill>
              <a:srgbClr val="00B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B4CED30-2C27-CFD4-DDE0-4A651709E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563" y="2138363"/>
            <a:ext cx="10372725" cy="3611562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 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 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 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 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 Lorem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lorem</a:t>
            </a:r>
            <a:r>
              <a:rPr lang="fr-FR" dirty="0"/>
              <a:t> ipsum.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E5FDF0B-BC64-96EC-1A9C-8746F1A2BFFB}"/>
              </a:ext>
            </a:extLst>
          </p:cNvPr>
          <p:cNvGrpSpPr/>
          <p:nvPr userDrawn="1"/>
        </p:nvGrpSpPr>
        <p:grpSpPr>
          <a:xfrm>
            <a:off x="0" y="6169981"/>
            <a:ext cx="11639682" cy="688019"/>
            <a:chOff x="0" y="6169981"/>
            <a:chExt cx="11639682" cy="688019"/>
          </a:xfrm>
        </p:grpSpPr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1B6BB807-0457-1B56-F04D-1F7CAAC93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169981"/>
              <a:ext cx="11639682" cy="3396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5F2B916-458C-2EFA-C6F4-30AE734B414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33907" y="6173377"/>
              <a:ext cx="703394" cy="684623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687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21A5BE4B-1DB3-8C36-58BD-87E4B88F5942}"/>
              </a:ext>
            </a:extLst>
          </p:cNvPr>
          <p:cNvSpPr/>
          <p:nvPr userDrawn="1"/>
        </p:nvSpPr>
        <p:spPr>
          <a:xfrm rot="13500000">
            <a:off x="-270949" y="271855"/>
            <a:ext cx="541896" cy="541896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8BD6F80-B31E-6378-68B4-8C34A75427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3744" y="200721"/>
            <a:ext cx="9144000" cy="409893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rgbClr val="99CC99"/>
                </a:solidFill>
              </a:defRPr>
            </a:lvl1pPr>
          </a:lstStyle>
          <a:p>
            <a:r>
              <a:rPr lang="fr-FR" dirty="0"/>
              <a:t>CHAPITRE 1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9589D-A1F1-DECC-88B0-E3CAE3F125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3744" y="610614"/>
            <a:ext cx="9144000" cy="40989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Lorem ipsum </a:t>
            </a:r>
            <a:r>
              <a:rPr lang="fr-FR" dirty="0" err="1"/>
              <a:t>dolore</a:t>
            </a:r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38B0616-CA28-4658-904D-3BA9EB3D78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744" y="1198531"/>
            <a:ext cx="3333750" cy="306808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B8D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D85AF6-7F58-B049-BB81-160991AF862C}"/>
              </a:ext>
            </a:extLst>
          </p:cNvPr>
          <p:cNvSpPr txBox="1"/>
          <p:nvPr userDrawn="1"/>
        </p:nvSpPr>
        <p:spPr>
          <a:xfrm>
            <a:off x="11589751" y="6413923"/>
            <a:ext cx="61517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70B26BD-1023-8646-9A2C-47B99FBD13CA}" type="slidenum">
              <a:rPr lang="fr-FR" sz="1000" smtClean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‹N°›</a:t>
            </a:fld>
            <a:endParaRPr lang="fr-FR" sz="1050" dirty="0">
              <a:solidFill>
                <a:srgbClr val="0C23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B751F5DE-C416-B2FD-2D5C-2F1DDEDDB2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47449" y="6431274"/>
            <a:ext cx="5189537" cy="211519"/>
          </a:xfrm>
        </p:spPr>
        <p:txBody>
          <a:bodyPr>
            <a:noAutofit/>
          </a:bodyPr>
          <a:lstStyle>
            <a:lvl1pPr marL="0" indent="0" algn="r">
              <a:buNone/>
              <a:defRPr sz="800">
                <a:solidFill>
                  <a:srgbClr val="0C2340"/>
                </a:solidFill>
              </a:defRPr>
            </a:lvl1pPr>
          </a:lstStyle>
          <a:p>
            <a:pPr lvl="0"/>
            <a:r>
              <a:rPr lang="fr-FR" dirty="0"/>
              <a:t>Titre du document /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B11D3-2AF3-F0F9-2699-23C3E02AFBAE}"/>
              </a:ext>
            </a:extLst>
          </p:cNvPr>
          <p:cNvSpPr/>
          <p:nvPr userDrawn="1"/>
        </p:nvSpPr>
        <p:spPr>
          <a:xfrm>
            <a:off x="1443913" y="6351401"/>
            <a:ext cx="1529396" cy="346974"/>
          </a:xfrm>
          <a:prstGeom prst="rect">
            <a:avLst/>
          </a:prstGeom>
          <a:solidFill>
            <a:srgbClr val="D9E1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Partenaire</a:t>
            </a:r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BC820B03-694F-4EC8-CF81-AA6FDA131603}"/>
              </a:ext>
            </a:extLst>
          </p:cNvPr>
          <p:cNvSpPr/>
          <p:nvPr userDrawn="1"/>
        </p:nvSpPr>
        <p:spPr>
          <a:xfrm rot="16200000">
            <a:off x="11234853" y="5910810"/>
            <a:ext cx="837281" cy="837281"/>
          </a:xfrm>
          <a:prstGeom prst="rtTriangle">
            <a:avLst/>
          </a:prstGeom>
          <a:noFill/>
          <a:ln w="9525">
            <a:solidFill>
              <a:srgbClr val="00B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contenu 23">
            <a:extLst>
              <a:ext uri="{FF2B5EF4-FFF2-40B4-BE49-F238E27FC236}">
                <a16:creationId xmlns:a16="http://schemas.microsoft.com/office/drawing/2014/main" id="{E100E0A8-7763-4B62-BB26-51F01038A68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63563" y="1663700"/>
            <a:ext cx="10009187" cy="4119563"/>
          </a:xfrm>
        </p:spPr>
        <p:txBody>
          <a:bodyPr/>
          <a:lstStyle>
            <a:lvl2pPr marL="685800" indent="-228600">
              <a:buFontTx/>
              <a:buBlip>
                <a:blip r:embed="rId2"/>
              </a:buBlip>
              <a:defRPr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3FB195-EDB0-7B47-FCEC-F097A4E10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1331" y="6340465"/>
            <a:ext cx="597606" cy="368845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58F51CDE-931E-E765-7072-D6B8F41E1BF2}"/>
              </a:ext>
            </a:extLst>
          </p:cNvPr>
          <p:cNvGrpSpPr/>
          <p:nvPr userDrawn="1"/>
        </p:nvGrpSpPr>
        <p:grpSpPr>
          <a:xfrm>
            <a:off x="0" y="6169981"/>
            <a:ext cx="11639682" cy="688019"/>
            <a:chOff x="0" y="6169981"/>
            <a:chExt cx="11639682" cy="688019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F098177C-C4D7-5A78-2838-53D431B8B49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169981"/>
              <a:ext cx="11639682" cy="3396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595617FA-7A74-E8F4-AFDC-5DA79EDB6B3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33907" y="6173377"/>
              <a:ext cx="703394" cy="684623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986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38B0616-CA28-4658-904D-3BA9EB3D78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5237" y="2790111"/>
            <a:ext cx="3333750" cy="306808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rgbClr val="00B8D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" name="Espace réservé du texte 18">
            <a:extLst>
              <a:ext uri="{FF2B5EF4-FFF2-40B4-BE49-F238E27FC236}">
                <a16:creationId xmlns:a16="http://schemas.microsoft.com/office/drawing/2014/main" id="{10F0C53A-5B2F-C523-991E-A90F9B795D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90619" y="2790111"/>
            <a:ext cx="3333750" cy="306808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rgbClr val="00B8D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5" name="Espace réservé du texte 22">
            <a:extLst>
              <a:ext uri="{FF2B5EF4-FFF2-40B4-BE49-F238E27FC236}">
                <a16:creationId xmlns:a16="http://schemas.microsoft.com/office/drawing/2014/main" id="{06A1B2BA-BA34-64DA-7297-CA48A2EC7F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0619" y="3186653"/>
            <a:ext cx="3333750" cy="1861122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</a:t>
            </a:r>
          </a:p>
          <a:p>
            <a:pPr lvl="0"/>
            <a:endParaRPr lang="fr-FR" dirty="0"/>
          </a:p>
        </p:txBody>
      </p:sp>
      <p:sp>
        <p:nvSpPr>
          <p:cNvPr id="6" name="Espace réservé du texte 18">
            <a:extLst>
              <a:ext uri="{FF2B5EF4-FFF2-40B4-BE49-F238E27FC236}">
                <a16:creationId xmlns:a16="http://schemas.microsoft.com/office/drawing/2014/main" id="{C9372E9B-27C3-9BF0-9CC2-3EC7160726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6001" y="2790111"/>
            <a:ext cx="3333750" cy="306808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rgbClr val="00B8D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8" name="Espace réservé du texte 22">
            <a:extLst>
              <a:ext uri="{FF2B5EF4-FFF2-40B4-BE49-F238E27FC236}">
                <a16:creationId xmlns:a16="http://schemas.microsoft.com/office/drawing/2014/main" id="{064540C6-C033-BA57-5A27-05A2DFB3B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6001" y="3186653"/>
            <a:ext cx="3333750" cy="1861122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</a:t>
            </a:r>
          </a:p>
          <a:p>
            <a:pPr lv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49B1E-980F-6C17-A0D0-666295B9936E}"/>
              </a:ext>
            </a:extLst>
          </p:cNvPr>
          <p:cNvSpPr/>
          <p:nvPr userDrawn="1"/>
        </p:nvSpPr>
        <p:spPr>
          <a:xfrm>
            <a:off x="1443913" y="6351401"/>
            <a:ext cx="1529396" cy="346974"/>
          </a:xfrm>
          <a:prstGeom prst="rect">
            <a:avLst/>
          </a:prstGeom>
          <a:solidFill>
            <a:srgbClr val="D9E1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Partenaire</a:t>
            </a:r>
          </a:p>
        </p:txBody>
      </p:sp>
      <p:sp>
        <p:nvSpPr>
          <p:cNvPr id="24" name="Triangle rectangle 23">
            <a:extLst>
              <a:ext uri="{FF2B5EF4-FFF2-40B4-BE49-F238E27FC236}">
                <a16:creationId xmlns:a16="http://schemas.microsoft.com/office/drawing/2014/main" id="{E57F4C5C-7B1D-9C13-CD87-898AE8489A31}"/>
              </a:ext>
            </a:extLst>
          </p:cNvPr>
          <p:cNvSpPr/>
          <p:nvPr userDrawn="1"/>
        </p:nvSpPr>
        <p:spPr>
          <a:xfrm rot="13500000">
            <a:off x="-270949" y="271855"/>
            <a:ext cx="541896" cy="541896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26A94FFA-6D93-6CE0-93A4-43D8275E6F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3744" y="200721"/>
            <a:ext cx="9144000" cy="409893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rgbClr val="99CC99"/>
                </a:solidFill>
              </a:defRPr>
            </a:lvl1pPr>
          </a:lstStyle>
          <a:p>
            <a:r>
              <a:rPr lang="fr-FR" dirty="0"/>
              <a:t>CHAPITRE 1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3E5182B5-87F6-31AB-9B12-534FF8C8DD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3744" y="610614"/>
            <a:ext cx="9144000" cy="40989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Lorem ipsum </a:t>
            </a:r>
            <a:r>
              <a:rPr lang="fr-FR" dirty="0" err="1"/>
              <a:t>dolore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92DA73B-C104-C505-2324-3D32EB626BAC}"/>
              </a:ext>
            </a:extLst>
          </p:cNvPr>
          <p:cNvSpPr txBox="1"/>
          <p:nvPr userDrawn="1"/>
        </p:nvSpPr>
        <p:spPr>
          <a:xfrm>
            <a:off x="11589751" y="6413923"/>
            <a:ext cx="61517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70B26BD-1023-8646-9A2C-47B99FBD13CA}" type="slidenum">
              <a:rPr lang="fr-FR" sz="1000" smtClean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‹N°›</a:t>
            </a:fld>
            <a:endParaRPr lang="fr-FR" sz="1050" dirty="0">
              <a:solidFill>
                <a:srgbClr val="0C23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BB47D72F-D649-99E5-D9A3-94851FAFA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47449" y="6431274"/>
            <a:ext cx="5189537" cy="211519"/>
          </a:xfrm>
        </p:spPr>
        <p:txBody>
          <a:bodyPr>
            <a:noAutofit/>
          </a:bodyPr>
          <a:lstStyle>
            <a:lvl1pPr marL="0" indent="0" algn="r">
              <a:buNone/>
              <a:defRPr sz="800">
                <a:solidFill>
                  <a:srgbClr val="0C2340"/>
                </a:solidFill>
              </a:defRPr>
            </a:lvl1pPr>
          </a:lstStyle>
          <a:p>
            <a:pPr lvl="0"/>
            <a:r>
              <a:rPr lang="fr-FR" dirty="0"/>
              <a:t>Titre du document / Date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CDC1CD4-BCB9-103A-1CC0-4BF2B424FD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236" y="3186113"/>
            <a:ext cx="3333750" cy="186213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do </a:t>
            </a:r>
            <a:r>
              <a:rPr lang="fr-FR" dirty="0" err="1"/>
              <a:t>eiusmod</a:t>
            </a:r>
            <a:r>
              <a:rPr lang="fr-FR" dirty="0"/>
              <a:t> </a:t>
            </a:r>
            <a:r>
              <a:rPr lang="fr-FR" dirty="0" err="1"/>
              <a:t>tempor</a:t>
            </a:r>
            <a:r>
              <a:rPr lang="fr-FR" dirty="0"/>
              <a:t> </a:t>
            </a:r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r>
              <a:rPr lang="fr-FR" dirty="0"/>
              <a:t>.</a:t>
            </a:r>
          </a:p>
          <a:p>
            <a:pPr lvl="0"/>
            <a:endParaRPr lang="fr-FR" dirty="0"/>
          </a:p>
        </p:txBody>
      </p:sp>
      <p:sp>
        <p:nvSpPr>
          <p:cNvPr id="7" name="Triangle rectangle 6">
            <a:extLst>
              <a:ext uri="{FF2B5EF4-FFF2-40B4-BE49-F238E27FC236}">
                <a16:creationId xmlns:a16="http://schemas.microsoft.com/office/drawing/2014/main" id="{B06B262B-B9EA-D1C9-468E-2BB1B21DF40E}"/>
              </a:ext>
            </a:extLst>
          </p:cNvPr>
          <p:cNvSpPr/>
          <p:nvPr userDrawn="1"/>
        </p:nvSpPr>
        <p:spPr>
          <a:xfrm rot="16200000">
            <a:off x="11234853" y="5910810"/>
            <a:ext cx="837281" cy="837281"/>
          </a:xfrm>
          <a:prstGeom prst="rtTriangle">
            <a:avLst/>
          </a:prstGeom>
          <a:noFill/>
          <a:ln w="9525">
            <a:solidFill>
              <a:srgbClr val="00B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95BFC7C-A505-196D-0558-138D7620D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1331" y="6340465"/>
            <a:ext cx="597606" cy="368845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FE225EA4-2550-9721-88CC-7AAC653315FF}"/>
              </a:ext>
            </a:extLst>
          </p:cNvPr>
          <p:cNvGrpSpPr/>
          <p:nvPr userDrawn="1"/>
        </p:nvGrpSpPr>
        <p:grpSpPr>
          <a:xfrm>
            <a:off x="0" y="6169981"/>
            <a:ext cx="11639682" cy="688019"/>
            <a:chOff x="0" y="6169981"/>
            <a:chExt cx="11639682" cy="688019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AE17FB8D-1A12-316A-BA9A-12024EF618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169981"/>
              <a:ext cx="11639682" cy="3396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EC1FDF20-4538-B58C-9D66-8F55CB22C87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33907" y="6173377"/>
              <a:ext cx="703394" cy="684623"/>
            </a:xfrm>
            <a:prstGeom prst="line">
              <a:avLst/>
            </a:prstGeom>
            <a:ln w="9525">
              <a:solidFill>
                <a:srgbClr val="99CC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825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le rectangle 5">
            <a:extLst>
              <a:ext uri="{FF2B5EF4-FFF2-40B4-BE49-F238E27FC236}">
                <a16:creationId xmlns:a16="http://schemas.microsoft.com/office/drawing/2014/main" id="{56EFD893-1388-F545-8FF3-74C3CC2388AE}"/>
              </a:ext>
            </a:extLst>
          </p:cNvPr>
          <p:cNvSpPr/>
          <p:nvPr userDrawn="1"/>
        </p:nvSpPr>
        <p:spPr>
          <a:xfrm rot="16200000">
            <a:off x="8223883" y="464446"/>
            <a:ext cx="3968117" cy="3968117"/>
          </a:xfrm>
          <a:prstGeom prst="rtTriangle">
            <a:avLst/>
          </a:prstGeom>
          <a:solidFill>
            <a:srgbClr val="03B8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35E1158F-DFB0-8C5E-A796-7CEC653E3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3123" y="5798079"/>
            <a:ext cx="2154894" cy="470686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Email</a:t>
            </a:r>
            <a:br>
              <a:rPr lang="fr-FR" dirty="0"/>
            </a:br>
            <a:r>
              <a:rPr lang="fr-FR" dirty="0"/>
              <a:t>Tel.</a:t>
            </a:r>
          </a:p>
        </p:txBody>
      </p:sp>
      <p:sp>
        <p:nvSpPr>
          <p:cNvPr id="19" name="Triangle rectangle 18">
            <a:extLst>
              <a:ext uri="{FF2B5EF4-FFF2-40B4-BE49-F238E27FC236}">
                <a16:creationId xmlns:a16="http://schemas.microsoft.com/office/drawing/2014/main" id="{89779724-8DFA-99BB-C860-387B50FE255D}"/>
              </a:ext>
            </a:extLst>
          </p:cNvPr>
          <p:cNvSpPr/>
          <p:nvPr userDrawn="1"/>
        </p:nvSpPr>
        <p:spPr>
          <a:xfrm rot="16200000">
            <a:off x="9683113" y="3182621"/>
            <a:ext cx="1958340" cy="1958340"/>
          </a:xfrm>
          <a:prstGeom prst="rtTriangle">
            <a:avLst/>
          </a:prstGeom>
          <a:solidFill>
            <a:srgbClr val="99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F6C167F-B524-0C89-FDB7-EB88D0C63D92}"/>
              </a:ext>
            </a:extLst>
          </p:cNvPr>
          <p:cNvCxnSpPr>
            <a:cxnSpLocks/>
          </p:cNvCxnSpPr>
          <p:nvPr userDrawn="1"/>
        </p:nvCxnSpPr>
        <p:spPr>
          <a:xfrm>
            <a:off x="530598" y="5665011"/>
            <a:ext cx="1481082" cy="0"/>
          </a:xfrm>
          <a:prstGeom prst="line">
            <a:avLst/>
          </a:prstGeom>
          <a:ln w="9525">
            <a:solidFill>
              <a:srgbClr val="03B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C233FDEB-2130-7E3D-48B2-F839F410B0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3474" y="557915"/>
            <a:ext cx="2743200" cy="1062932"/>
          </a:xfrm>
          <a:prstGeom prst="rect">
            <a:avLst/>
          </a:prstGeom>
        </p:spPr>
      </p:pic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8B774852-9621-91DC-20C5-9B54070469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3123" y="5276216"/>
            <a:ext cx="2624137" cy="322262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03B8DF"/>
                </a:solidFill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8" name="Espace réservé du texte 25">
            <a:extLst>
              <a:ext uri="{FF2B5EF4-FFF2-40B4-BE49-F238E27FC236}">
                <a16:creationId xmlns:a16="http://schemas.microsoft.com/office/drawing/2014/main" id="{9D02355F-7DEE-E0B3-9FA0-730B795C8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7603" y="2864037"/>
            <a:ext cx="2656794" cy="779407"/>
          </a:xfrm>
        </p:spPr>
        <p:txBody>
          <a:bodyPr>
            <a:noAutofit/>
          </a:bodyPr>
          <a:lstStyle>
            <a:lvl1pPr marL="0" indent="0" algn="l">
              <a:buNone/>
              <a:defRPr sz="6000" b="1">
                <a:solidFill>
                  <a:srgbClr val="03B8DF"/>
                </a:solidFill>
              </a:defRPr>
            </a:lvl1pPr>
          </a:lstStyle>
          <a:p>
            <a:pPr lvl="0"/>
            <a:r>
              <a:rPr lang="fr-FR" dirty="0"/>
              <a:t>MERCI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6B34B9-D203-D105-187E-4007365007BB}"/>
              </a:ext>
            </a:extLst>
          </p:cNvPr>
          <p:cNvSpPr/>
          <p:nvPr userDrawn="1"/>
        </p:nvSpPr>
        <p:spPr>
          <a:xfrm>
            <a:off x="10112057" y="5921791"/>
            <a:ext cx="1529396" cy="346974"/>
          </a:xfrm>
          <a:prstGeom prst="rect">
            <a:avLst/>
          </a:prstGeom>
          <a:solidFill>
            <a:srgbClr val="D9E1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Partenaire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7FD6477-C856-B3AB-44FF-C39AA58CDE02}"/>
              </a:ext>
            </a:extLst>
          </p:cNvPr>
          <p:cNvCxnSpPr>
            <a:endCxn id="6" idx="0"/>
          </p:cNvCxnSpPr>
          <p:nvPr userDrawn="1"/>
        </p:nvCxnSpPr>
        <p:spPr>
          <a:xfrm>
            <a:off x="0" y="4432563"/>
            <a:ext cx="8223883" cy="0"/>
          </a:xfrm>
          <a:prstGeom prst="line">
            <a:avLst/>
          </a:prstGeom>
          <a:ln w="9525">
            <a:solidFill>
              <a:srgbClr val="99C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C0240AF-15A8-E3BC-85BB-93DD7BF29438}"/>
              </a:ext>
            </a:extLst>
          </p:cNvPr>
          <p:cNvCxnSpPr>
            <a:cxnSpLocks/>
          </p:cNvCxnSpPr>
          <p:nvPr userDrawn="1"/>
        </p:nvCxnSpPr>
        <p:spPr>
          <a:xfrm flipH="1">
            <a:off x="5800725" y="4422405"/>
            <a:ext cx="2433318" cy="2435595"/>
          </a:xfrm>
          <a:prstGeom prst="line">
            <a:avLst/>
          </a:prstGeom>
          <a:ln w="9525">
            <a:solidFill>
              <a:srgbClr val="99C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54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D051980-2AA7-B33A-EFD5-E45F221D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EEA62C-86E4-1C21-1ADE-6B8C8CA2B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61FB8C-517C-D8E9-2434-0E0922D78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829D4-4080-754F-9C15-026F5B1239C4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35F184-8DAC-EFF9-C888-6A17C4444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FE9D6E-3527-8CA9-DBE4-AF9532D24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C23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0B26BD-1023-8646-9A2C-47B99FBD13C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222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8" r:id="rId2"/>
    <p:sldLayoutId id="2147483687" r:id="rId3"/>
    <p:sldLayoutId id="2147483672" r:id="rId4"/>
    <p:sldLayoutId id="2147483673" r:id="rId5"/>
    <p:sldLayoutId id="2147483685" r:id="rId6"/>
    <p:sldLayoutId id="2147483675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C234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0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8DE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7350A-ECC7-A7C0-8498-762F9C769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52" y="2838291"/>
            <a:ext cx="8281224" cy="1468989"/>
          </a:xfrm>
        </p:spPr>
        <p:txBody>
          <a:bodyPr>
            <a:normAutofit/>
          </a:bodyPr>
          <a:lstStyle/>
          <a:p>
            <a:r>
              <a:rPr lang="fr-FR" sz="3200" dirty="0"/>
              <a:t>A Framework for Learning Analytics Data and Indicator </a:t>
            </a:r>
            <a:r>
              <a:rPr lang="fr-FR" sz="3200" dirty="0" err="1"/>
              <a:t>Quality</a:t>
            </a:r>
            <a:r>
              <a:rPr lang="fr-FR" sz="3200" dirty="0"/>
              <a:t> (LADIQ) </a:t>
            </a:r>
            <a:br>
              <a:rPr lang="fr-FR" sz="3200" dirty="0"/>
            </a:br>
            <a:endParaRPr lang="fr-FR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834B8B-DE4E-50BF-3AFD-B3028AF47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364" y="4307280"/>
            <a:ext cx="6619875" cy="85549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Fahima Djelil et Nadine </a:t>
            </a:r>
            <a:r>
              <a:rPr lang="fr-FR" dirty="0" err="1"/>
              <a:t>Mandran</a:t>
            </a:r>
            <a:endParaRPr lang="fr-FR" dirty="0"/>
          </a:p>
          <a:p>
            <a:r>
              <a:rPr lang="fr-FR" dirty="0"/>
              <a:t>Poster soumis à LAK 2026</a:t>
            </a:r>
          </a:p>
          <a:p>
            <a:endParaRPr lang="fr-FR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2C89E3A8-EB04-FEED-7850-F6335EA5092C}"/>
              </a:ext>
            </a:extLst>
          </p:cNvPr>
          <p:cNvSpPr txBox="1">
            <a:spLocks/>
          </p:cNvSpPr>
          <p:nvPr/>
        </p:nvSpPr>
        <p:spPr>
          <a:xfrm>
            <a:off x="1527976" y="1482239"/>
            <a:ext cx="6619875" cy="8554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rgbClr val="0C234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8DE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/>
              <a:t>Séminaire MOTEL </a:t>
            </a:r>
          </a:p>
          <a:p>
            <a:pPr algn="ctr"/>
            <a:r>
              <a:rPr lang="fr-FR" sz="2800" b="1" dirty="0"/>
              <a:t>15/12/2025</a:t>
            </a:r>
          </a:p>
          <a:p>
            <a:pPr algn="ctr"/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67140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86A09-5C9D-F751-0B2B-C3801C437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1BFE50-3A5C-39AC-E933-15D2ADA57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Yu Mincho" panose="02020400000000000000" pitchFamily="18" charset="-128"/>
              </a:rPr>
              <a:t>Data Quality Criteria and Assessment Phases </a:t>
            </a:r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Yu Mincho" panose="02020400000000000000" pitchFamily="18" charset="-128"/>
            </a:endParaRP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1763A-10E8-8E4C-A1A8-13380F931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Data Quality Criteria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A18661-394B-41EC-1E89-A526933164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3140A9A-10C7-03E7-A846-54FE9B1D6AE6}"/>
              </a:ext>
            </a:extLst>
          </p:cNvPr>
          <p:cNvSpPr txBox="1"/>
          <p:nvPr/>
        </p:nvSpPr>
        <p:spPr>
          <a:xfrm>
            <a:off x="563743" y="2267506"/>
            <a:ext cx="107233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Many classifications have been proposed to define a basic set of data quality dimensions (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Batini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et al., 2009).</a:t>
            </a:r>
          </a:p>
          <a:p>
            <a:endParaRPr lang="fr-FR" sz="1800" dirty="0">
              <a:latin typeface="Calibri Light" panose="020F03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We have selected five key criteria :</a:t>
            </a:r>
            <a:endParaRPr lang="fr-FR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Accuracy,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refers to the extent to which the data are correct, reliable, and certified;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Completeness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which is often related to missing values in a dataset;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Consistency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refers to the absence of conflicting information in the data;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Timeliness,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refers to the updating of data over time;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ntelligibility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which means that the data is easily accessible, understandable, and interpretable without ambiguity.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0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86A09-5C9D-F751-0B2B-C3801C437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1BFE50-3A5C-39AC-E933-15D2ADA57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Yu Mincho" panose="02020400000000000000" pitchFamily="18" charset="-128"/>
              </a:rPr>
              <a:t>Data Quality Criteria and Assessment Phases </a:t>
            </a:r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Yu Mincho" panose="02020400000000000000" pitchFamily="18" charset="-128"/>
            </a:endParaRP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1763A-10E8-8E4C-A1A8-13380F931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744" y="1652185"/>
            <a:ext cx="4522606" cy="409892"/>
          </a:xfrm>
        </p:spPr>
        <p:txBody>
          <a:bodyPr>
            <a:noAutofit/>
          </a:bodyPr>
          <a:lstStyle/>
          <a:p>
            <a:r>
              <a:rPr lang="en-US" dirty="0"/>
              <a:t>Data Quality Assessment phases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A18661-394B-41EC-1E89-A526933164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3140A9A-10C7-03E7-A846-54FE9B1D6AE6}"/>
              </a:ext>
            </a:extLst>
          </p:cNvPr>
          <p:cNvSpPr txBox="1"/>
          <p:nvPr/>
        </p:nvSpPr>
        <p:spPr>
          <a:xfrm>
            <a:off x="563743" y="2267506"/>
            <a:ext cx="107233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We propose assessing these criteria in four phases throughout data collection and preparation for producing indicators (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Berti-Equille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2004) : </a:t>
            </a:r>
          </a:p>
          <a:p>
            <a:endParaRPr lang="fr-FR" sz="1800" dirty="0">
              <a:latin typeface="Calibri Light" panose="020F03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reventive phase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for data quality assessment, which occurs before data production;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daptive phase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occurs during data production;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iagnostic phase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occurs after data collection, verifying the correctness and compliance of real-world data,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orrective phase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occurs after data collection, cleaning the data by removing missing information or duplicate entries.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9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86A09-5C9D-F751-0B2B-C3801C437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1BFE50-3A5C-39AC-E933-15D2ADA57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Yu Mincho" panose="02020400000000000000" pitchFamily="18" charset="-128"/>
              </a:rPr>
              <a:t>Indicator Quality Criteria and Dimensions</a:t>
            </a:r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Yu Mincho" panose="02020400000000000000" pitchFamily="18" charset="-128"/>
            </a:endParaRP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1763A-10E8-8E4C-A1A8-13380F931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744" y="1652185"/>
            <a:ext cx="5826782" cy="409892"/>
          </a:xfrm>
        </p:spPr>
        <p:txBody>
          <a:bodyPr>
            <a:noAutofit/>
          </a:bodyPr>
          <a:lstStyle/>
          <a:p>
            <a:r>
              <a:rPr lang="en-US" dirty="0"/>
              <a:t>Exiting quality indicators in the literature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A18661-394B-41EC-1E89-A526933164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3140A9A-10C7-03E7-A846-54FE9B1D6AE6}"/>
              </a:ext>
            </a:extLst>
          </p:cNvPr>
          <p:cNvSpPr txBox="1"/>
          <p:nvPr/>
        </p:nvSpPr>
        <p:spPr>
          <a:xfrm>
            <a:off x="563743" y="2267506"/>
            <a:ext cx="107233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We have selected existing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quality indicators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from the literature, regarding direct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assessments of academic performance, focusing on learning and teaching processes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(De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Landsheere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1994).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 Light" panose="020F03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We have proposed classifying them according to a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hierarchical framework for data quality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(Wang &amp; Strong, 1996).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 Light" panose="020F03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We define a LA indicator as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a measure resulting from the processing of initial data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that reports significant features.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7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86A09-5C9D-F751-0B2B-C3801C437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1BFE50-3A5C-39AC-E933-15D2ADA57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Yu Mincho" panose="02020400000000000000" pitchFamily="18" charset="-128"/>
              </a:rPr>
              <a:t>Indicator Quality Criteria and Dimensions</a:t>
            </a:r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Yu Mincho" panose="02020400000000000000" pitchFamily="18" charset="-128"/>
            </a:endParaRP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1763A-10E8-8E4C-A1A8-13380F931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744" y="1652185"/>
            <a:ext cx="5826782" cy="409892"/>
          </a:xfrm>
        </p:spPr>
        <p:txBody>
          <a:bodyPr>
            <a:noAutofit/>
          </a:bodyPr>
          <a:lstStyle/>
          <a:p>
            <a:r>
              <a:rPr lang="en-US" sz="18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A quality indicator should be: </a:t>
            </a:r>
            <a:endParaRPr lang="en-US" b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A18661-394B-41EC-1E89-A526933164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3140A9A-10C7-03E7-A846-54FE9B1D6AE6}"/>
              </a:ext>
            </a:extLst>
          </p:cNvPr>
          <p:cNvSpPr txBox="1"/>
          <p:nvPr/>
        </p:nvSpPr>
        <p:spPr>
          <a:xfrm>
            <a:off x="563744" y="2267506"/>
            <a:ext cx="40390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intrinsically valid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contextually appropriate,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clearly represented and,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accessible to educational practitioners.</a:t>
            </a:r>
            <a:endParaRPr lang="en-US" b="1" dirty="0"/>
          </a:p>
        </p:txBody>
      </p:sp>
      <p:pic>
        <p:nvPicPr>
          <p:cNvPr id="6" name="Espace réservé du contenu 7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1C6E83BD-6C48-4D03-50A7-9E90950A5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778" y="997443"/>
            <a:ext cx="5986208" cy="432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40F75-AFF4-5545-7B43-09B2C3C7F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LADIQ Framework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E95C34-072C-E5C3-8F3A-0F22C4576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Adapting</a:t>
            </a:r>
            <a:r>
              <a:rPr lang="fr-FR" dirty="0"/>
              <a:t> the </a:t>
            </a:r>
            <a:r>
              <a:rPr lang="en-US" sz="20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CRISP-DM  Framework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6A6464-00ED-2EF3-87FC-A77408C64B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" name="Espace réservé du contenu 13" descr="Une image contenant diagramme, cercle, croquis, texte&#10;&#10;Description générée automatiquement">
            <a:extLst>
              <a:ext uri="{FF2B5EF4-FFF2-40B4-BE49-F238E27FC236}">
                <a16:creationId xmlns:a16="http://schemas.microsoft.com/office/drawing/2014/main" id="{12CFF0BC-5BC2-469A-1875-2068DB89C24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733" y="610614"/>
            <a:ext cx="7469487" cy="548303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EEAF209-25FA-7DFB-53FC-B378840CB133}"/>
              </a:ext>
            </a:extLst>
          </p:cNvPr>
          <p:cNvSpPr txBox="1"/>
          <p:nvPr/>
        </p:nvSpPr>
        <p:spPr>
          <a:xfrm>
            <a:off x="481780" y="1946787"/>
            <a:ext cx="32053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LADIQ is based on the framework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CRISP-DM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Calibri" panose="020F0502020204030204" pitchFamily="34" charset="0"/>
              </a:rPr>
              <a:t>(Chapman et al., s. d.)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by adapting it to LA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data production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and indicator development while ensuring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data and indicator quality.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0485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2108D7E-084C-821F-807A-D89C7AD4A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105" y="1580743"/>
            <a:ext cx="3333750" cy="30680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684110-F8C7-BBA7-4F64-357C226A898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10105" y="1977285"/>
            <a:ext cx="3333750" cy="18611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The LADIQ framework highlights the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different phases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of data and indicator production, as well as the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most frequent dependencies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between them and the key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stakeholders involved</a:t>
            </a:r>
            <a:endParaRPr lang="fr-FR" sz="1600" b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39DD82-40CA-EF09-A9F9-A980AB6C1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487" y="1580743"/>
            <a:ext cx="3333750" cy="30680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2</a:t>
            </a:r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C527EC-E463-8CA5-BF94-EBDB0741A2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5487" y="1977285"/>
            <a:ext cx="3333750" cy="1861122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outlines the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data quality dimensions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assessment stages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that are integrated throughout the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design process</a:t>
            </a:r>
            <a:endParaRPr lang="fr-FR" b="1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CAE401B-1E6F-7745-07A1-3B5F73D660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40869" y="1580743"/>
            <a:ext cx="3333750" cy="30680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A129B30-1144-1361-7C1A-DF14B69E71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0869" y="1977285"/>
            <a:ext cx="3333750" cy="1861122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potential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to guide the design of LA indicators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that must remain accurate and relevant in a real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educational context</a:t>
            </a:r>
            <a:endParaRPr lang="fr-FR" b="1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954637A-049C-89D5-AD1D-AF3DF1EEADB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29600" y="6431274"/>
            <a:ext cx="5189537" cy="211519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Titre du document / Date</a:t>
            </a:r>
          </a:p>
          <a:p>
            <a:endParaRPr lang="fr-FR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80141818-F7AF-D6EB-8E76-DE29073F4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2DAD95D5-4A33-73A9-F004-68FA6DE51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AD2FC59-1950-B713-0579-C6232707EDC2}"/>
              </a:ext>
            </a:extLst>
          </p:cNvPr>
          <p:cNvSpPr txBox="1"/>
          <p:nvPr/>
        </p:nvSpPr>
        <p:spPr>
          <a:xfrm>
            <a:off x="521109" y="4365523"/>
            <a:ext cx="1064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Future work : </a:t>
            </a:r>
            <a:r>
              <a:rPr lang="en-US" sz="1800" dirty="0">
                <a:effectLst/>
                <a:latin typeface="Calibri Light" panose="020F03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assess its relevance and potential as a methodological guide for designing quality indicators based on quality data for learning analytics.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1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B55C033-E514-1ED9-0277-44A15B300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51F9EA03-57AC-35B9-2968-1D5B632C3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64" y="1623335"/>
            <a:ext cx="10550222" cy="2820845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lnSpc>
                <a:spcPct val="115000"/>
              </a:lnSpc>
            </a:pP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Batini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C., Cappiello, C.,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Francalanci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C., &amp;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Maurino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A. (2009).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Methodologies for data quality assessment and improvement.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ACM Computing Surveys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41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(3), 1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Yu Mincho" panose="02020400000000000000" pitchFamily="18" charset="-128"/>
                <a:cs typeface="Cambria Math" panose="02040503050406030204" pitchFamily="18" charset="0"/>
              </a:rPr>
              <a:t>‑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52. 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15000"/>
              </a:lnSpc>
            </a:pP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Berti-Equille, L. (2004). Un état de l’art sur la qualité des données. </a:t>
            </a:r>
            <a:r>
              <a:rPr lang="fr-FR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Ingénierie des systèmes d’information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  <a:r>
              <a:rPr lang="fr-FR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9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(5</a:t>
            </a:r>
            <a:r>
              <a:rPr lang="fr-FR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Yu Mincho" panose="02020400000000000000" pitchFamily="18" charset="-128"/>
                <a:cs typeface="Cambria Math" panose="02040503050406030204" pitchFamily="18" charset="0"/>
              </a:rPr>
              <a:t>‑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6), 117</a:t>
            </a:r>
            <a:r>
              <a:rPr lang="fr-FR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Yu Mincho" panose="02020400000000000000" pitchFamily="18" charset="-128"/>
                <a:cs typeface="Cambria Math" panose="02040503050406030204" pitchFamily="18" charset="0"/>
              </a:rPr>
              <a:t>‑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143. 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15000"/>
              </a:lnSpc>
            </a:pP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Chapman, P., Clinton, J.,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Kerber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R.,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Khabaza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Reinartz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., Shearer, C., &amp; Wirth, R. (2000).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Step-by-step data mining guide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15000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Chatti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M. A., Muslim, A.,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Guliani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M., &amp;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Guesmi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M. (2020). The LAVA Model : Learning Analytics Meets Visual Analytics. In D.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Ifenthaler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&amp; D. Gibson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Éds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.),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Adoption of Data Analytics in Higher Education Learning and Teaching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(p. 71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Yu Mincho" panose="02020400000000000000" pitchFamily="18" charset="-128"/>
                <a:cs typeface="Cambria Math" panose="02040503050406030204" pitchFamily="18" charset="0"/>
              </a:rPr>
              <a:t>‑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93). 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Springer International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Publishing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 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15000"/>
              </a:lnSpc>
            </a:pP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 De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Landsheere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 1994. Le pilotage des systèmes d’éducation,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bruxelles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de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boeck</a:t>
            </a:r>
            <a:r>
              <a:rPr lang="fr-F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université, coll.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Pédagogies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en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développement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. 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15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Wang, R. Y., &amp; Strong, D. M. (1996). Beyond Accuracy: What Data Quality Means to Data Consumers.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Journal of Management Information Systems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12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(4), 5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Yu Mincho" panose="02020400000000000000" pitchFamily="18" charset="-128"/>
                <a:cs typeface="Cambria Math" panose="02040503050406030204" pitchFamily="18" charset="0"/>
              </a:rPr>
              <a:t>‑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33.</a:t>
            </a:r>
            <a:endParaRPr lang="fr-FR" sz="1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200AC65-C789-9537-17DA-FDCE36211C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927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699</Words>
  <Application>Microsoft Macintosh PowerPoint</Application>
  <PresentationFormat>Grand écran</PresentationFormat>
  <Paragraphs>65</Paragraphs>
  <Slides>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Cambria Math</vt:lpstr>
      <vt:lpstr>Thème Office</vt:lpstr>
      <vt:lpstr>A Framework for Learning Analytics Data and Indicator Quality (LADIQ)  </vt:lpstr>
      <vt:lpstr>Background</vt:lpstr>
      <vt:lpstr>Background</vt:lpstr>
      <vt:lpstr>Background</vt:lpstr>
      <vt:lpstr>Background</vt:lpstr>
      <vt:lpstr>LADIQ Framework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Léna Vassallo</dc:creator>
  <cp:lastModifiedBy>Fahima DJELIL</cp:lastModifiedBy>
  <cp:revision>36</cp:revision>
  <dcterms:created xsi:type="dcterms:W3CDTF">2024-09-12T07:54:08Z</dcterms:created>
  <dcterms:modified xsi:type="dcterms:W3CDTF">2025-12-12T13:31:23Z</dcterms:modified>
</cp:coreProperties>
</file>